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ppt/charts/chart7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fr-CA" sz="1800" b="0" i="0" u="none" strike="noStrike">
                <a:solidFill>
                  <a:srgbClr val="000000"/>
                </a:solidFill>
                <a:latin typeface="Arial"/>
              </a:rPr>
              <a:t>Ventes par catégorie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Ventes ($)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Technology</c:v>
                </c:pt>
                <c:pt idx="1">
                  <c:v>Furniture</c:v>
                </c:pt>
                <c:pt idx="2">
                  <c:v>Office Supplies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4680000</c:v>
                </c:pt>
                <c:pt idx="1">
                  <c:v>4120000</c:v>
                </c:pt>
                <c:pt idx="2">
                  <c:v>3800000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E73-4B90-82BF-063BF14B02F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fr-CA" sz="1800" b="0" i="0" u="none" strike="noStrike">
                <a:solidFill>
                  <a:srgbClr val="000000"/>
                </a:solidFill>
                <a:latin typeface="Arial"/>
              </a:rPr>
              <a:t>Profit par catégorie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($)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Technology</c:v>
                </c:pt>
                <c:pt idx="1">
                  <c:v>Furniture</c:v>
                </c:pt>
                <c:pt idx="2">
                  <c:v>Office Supplies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650000</c:v>
                </c:pt>
                <c:pt idx="1">
                  <c:v>290000</c:v>
                </c:pt>
                <c:pt idx="2">
                  <c:v>527000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B9-4E22-B3F7-E09999CE6FB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Ventes ($)</c:v>
                </c:pt>
              </c:strCache>
            </c:strRef>
          </c:tx>
          <c:spPr>
            <a:ln w="31750" cap="flat">
              <a:solidFill>
                <a:srgbClr val="0891B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891B2"/>
              </a:solidFill>
              <a:ln w="9525" cap="flat">
                <a:solidFill>
                  <a:srgbClr val="0891B2"/>
                </a:solidFill>
                <a:prstDash val="solid"/>
                <a:round/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Jan-16</c:v>
                </c:pt>
                <c:pt idx="1">
                  <c:v>Avr-16</c:v>
                </c:pt>
                <c:pt idx="2">
                  <c:v>Jul-16</c:v>
                </c:pt>
                <c:pt idx="3">
                  <c:v>Oct-16</c:v>
                </c:pt>
                <c:pt idx="4">
                  <c:v>Jan-17</c:v>
                </c:pt>
                <c:pt idx="5">
                  <c:v>Avr-17</c:v>
                </c:pt>
                <c:pt idx="6">
                  <c:v>Jul-17</c:v>
                </c:pt>
                <c:pt idx="7">
                  <c:v>Oct-17</c:v>
                </c:pt>
                <c:pt idx="8">
                  <c:v>Jan-18</c:v>
                </c:pt>
                <c:pt idx="9">
                  <c:v>Avr-18</c:v>
                </c:pt>
                <c:pt idx="10">
                  <c:v>Jul-18</c:v>
                </c:pt>
                <c:pt idx="11">
                  <c:v>Oct-18</c:v>
                </c:pt>
                <c:pt idx="12">
                  <c:v>Jan-19</c:v>
                </c:pt>
                <c:pt idx="13">
                  <c:v>Avr-19</c:v>
                </c:pt>
                <c:pt idx="14">
                  <c:v>Jul-19</c:v>
                </c:pt>
                <c:pt idx="15">
                  <c:v>Oct-19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97000</c:v>
                </c:pt>
                <c:pt idx="1">
                  <c:v>148000</c:v>
                </c:pt>
                <c:pt idx="2">
                  <c:v>210000</c:v>
                </c:pt>
                <c:pt idx="3">
                  <c:v>295000</c:v>
                </c:pt>
                <c:pt idx="4">
                  <c:v>205000</c:v>
                </c:pt>
                <c:pt idx="5">
                  <c:v>160000</c:v>
                </c:pt>
                <c:pt idx="6">
                  <c:v>250000</c:v>
                </c:pt>
                <c:pt idx="7">
                  <c:v>300000</c:v>
                </c:pt>
                <c:pt idx="8">
                  <c:v>350000</c:v>
                </c:pt>
                <c:pt idx="9">
                  <c:v>190000</c:v>
                </c:pt>
                <c:pt idx="10">
                  <c:v>390000</c:v>
                </c:pt>
                <c:pt idx="11">
                  <c:v>425000</c:v>
                </c:pt>
                <c:pt idx="12">
                  <c:v>167000</c:v>
                </c:pt>
                <c:pt idx="13">
                  <c:v>280000</c:v>
                </c:pt>
                <c:pt idx="14">
                  <c:v>505000</c:v>
                </c:pt>
                <c:pt idx="15">
                  <c:v>545000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CC38-4D57-8D05-1417DCCB3EA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 ($)</c:v>
                </c:pt>
              </c:strCache>
            </c:strRef>
          </c:tx>
          <c:spPr>
            <a:ln w="3175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Jan-16</c:v>
                </c:pt>
                <c:pt idx="1">
                  <c:v>Avr-16</c:v>
                </c:pt>
                <c:pt idx="2">
                  <c:v>Jul-16</c:v>
                </c:pt>
                <c:pt idx="3">
                  <c:v>Oct-16</c:v>
                </c:pt>
                <c:pt idx="4">
                  <c:v>Jan-17</c:v>
                </c:pt>
                <c:pt idx="5">
                  <c:v>Avr-17</c:v>
                </c:pt>
                <c:pt idx="6">
                  <c:v>Jul-17</c:v>
                </c:pt>
                <c:pt idx="7">
                  <c:v>Oct-17</c:v>
                </c:pt>
                <c:pt idx="8">
                  <c:v>Jan-18</c:v>
                </c:pt>
                <c:pt idx="9">
                  <c:v>Avr-18</c:v>
                </c:pt>
                <c:pt idx="10">
                  <c:v>Jul-18</c:v>
                </c:pt>
                <c:pt idx="11">
                  <c:v>Oct-18</c:v>
                </c:pt>
                <c:pt idx="12">
                  <c:v>Jan-19</c:v>
                </c:pt>
                <c:pt idx="13">
                  <c:v>Avr-19</c:v>
                </c:pt>
                <c:pt idx="14">
                  <c:v>Jul-19</c:v>
                </c:pt>
                <c:pt idx="15">
                  <c:v>Oct-19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8000</c:v>
                </c:pt>
                <c:pt idx="1">
                  <c:v>16000</c:v>
                </c:pt>
                <c:pt idx="2">
                  <c:v>23000</c:v>
                </c:pt>
                <c:pt idx="3">
                  <c:v>32000</c:v>
                </c:pt>
                <c:pt idx="4">
                  <c:v>29000</c:v>
                </c:pt>
                <c:pt idx="5">
                  <c:v>12000</c:v>
                </c:pt>
                <c:pt idx="6">
                  <c:v>27000</c:v>
                </c:pt>
                <c:pt idx="7">
                  <c:v>30000</c:v>
                </c:pt>
                <c:pt idx="8">
                  <c:v>49000</c:v>
                </c:pt>
                <c:pt idx="9">
                  <c:v>21000</c:v>
                </c:pt>
                <c:pt idx="10">
                  <c:v>45000</c:v>
                </c:pt>
                <c:pt idx="11">
                  <c:v>50000</c:v>
                </c:pt>
                <c:pt idx="12">
                  <c:v>15000</c:v>
                </c:pt>
                <c:pt idx="13">
                  <c:v>30000</c:v>
                </c:pt>
                <c:pt idx="14">
                  <c:v>70000</c:v>
                </c:pt>
                <c:pt idx="15">
                  <c:v>62000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CC38-4D57-8D05-1417DCCB3E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fr-CA" sz="1800" b="0" i="0" u="none" strike="noStrike">
                <a:solidFill>
                  <a:srgbClr val="000000"/>
                </a:solidFill>
                <a:latin typeface="Arial"/>
              </a:rPr>
              <a:t>Ventes par région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Ventes ($M)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F5F-409D-8C97-CE5537A326B9}"/>
              </c:ext>
            </c:extLst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F5F-409D-8C97-CE5537A326B9}"/>
              </c:ext>
            </c:extLst>
          </c:dPt>
          <c:dPt>
            <c:idx val="2"/>
            <c:invertIfNegative val="0"/>
            <c:bubble3D val="0"/>
            <c:spPr>
              <a:solidFill>
                <a:srgbClr val="5EEA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F5F-409D-8C97-CE5537A326B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Atlantic Canada</c:v>
                </c:pt>
                <c:pt idx="1">
                  <c:v>Western Canada</c:v>
                </c:pt>
                <c:pt idx="2">
                  <c:v>Central Canada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11500000</c:v>
                </c:pt>
                <c:pt idx="1">
                  <c:v>900000</c:v>
                </c:pt>
                <c:pt idx="2">
                  <c:v>240000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F5F-409D-8C97-CE5537A326B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fr-CA" sz="1800" b="0" i="0" u="none" strike="noStrike">
                <a:solidFill>
                  <a:srgbClr val="000000"/>
                </a:solidFill>
                <a:latin typeface="Arial"/>
              </a:rPr>
              <a:t>Marge (%) par région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Marge (%)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B39-405E-BAB9-85B28C8898FB}"/>
              </c:ext>
            </c:extLst>
          </c:dPt>
          <c:dPt>
            <c:idx val="1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B39-405E-BAB9-85B28C8898FB}"/>
              </c:ext>
            </c:extLst>
          </c:dPt>
          <c:dPt>
            <c:idx val="2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B39-405E-BAB9-85B28C8898F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Atlantic Canada</c:v>
                </c:pt>
                <c:pt idx="1">
                  <c:v>Western Canada</c:v>
                </c:pt>
                <c:pt idx="2">
                  <c:v>Central Canada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11.5</c:v>
                </c:pt>
                <c:pt idx="1">
                  <c:v>10.8</c:v>
                </c:pt>
                <c:pt idx="2">
                  <c:v>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B39-405E-BAB9-85B28C8898F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fr-CA" sz="1800" b="0" i="0" u="none" strike="noStrike">
                <a:solidFill>
                  <a:srgbClr val="000000"/>
                </a:solidFill>
                <a:latin typeface="Arial"/>
              </a:rPr>
              <a:t>Distribution des niveaux de remise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Distribution remises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509-47BA-96EC-0828067F9445}"/>
              </c:ext>
            </c:extLst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509-47BA-96EC-0828067F9445}"/>
              </c:ext>
            </c:extLst>
          </c:dPt>
          <c:dPt>
            <c:idx val="2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509-47BA-96EC-0828067F9445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509-47BA-96EC-0828067F9445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509-47BA-96EC-0828067F9445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509-47BA-96EC-0828067F944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fr-FR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Sans remise (0%)</c:v>
                </c:pt>
                <c:pt idx="1">
                  <c:v>Remise modérée (1-30%)</c:v>
                </c:pt>
                <c:pt idx="2">
                  <c:v>Remise agressive (&gt;30%)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</c:v>
                </c:pt>
                <c:pt idx="1">
                  <c:v>35</c:v>
                </c:pt>
                <c:pt idx="2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509-47BA-96EC-0828067F94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Ventes ($)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Standard Class</c:v>
                </c:pt>
                <c:pt idx="1">
                  <c:v>Second Class</c:v>
                </c:pt>
                <c:pt idx="2">
                  <c:v>First Class</c:v>
                </c:pt>
                <c:pt idx="3">
                  <c:v>Same Day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7400000</c:v>
                </c:pt>
                <c:pt idx="1">
                  <c:v>2500000</c:v>
                </c:pt>
                <c:pt idx="2">
                  <c:v>1950000</c:v>
                </c:pt>
                <c:pt idx="3">
                  <c:v>650000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3F7-41C5-85EF-F33E14AB015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 ($)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Standard Class</c:v>
                </c:pt>
                <c:pt idx="1">
                  <c:v>Second Class</c:v>
                </c:pt>
                <c:pt idx="2">
                  <c:v>First Class</c:v>
                </c:pt>
                <c:pt idx="3">
                  <c:v>Same Day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900000</c:v>
                </c:pt>
                <c:pt idx="1">
                  <c:v>300000</c:v>
                </c:pt>
                <c:pt idx="2">
                  <c:v>175000</c:v>
                </c:pt>
                <c:pt idx="3">
                  <c:v>75000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3F7-41C5-85EF-F33E14AB01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589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" name="Shape 1"/>
          <p:cNvSpPr/>
          <p:nvPr/>
        </p:nvSpPr>
        <p:spPr>
          <a:xfrm>
            <a:off x="7772400" y="-548640"/>
            <a:ext cx="2286000" cy="2286000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4" name="Shape 2"/>
          <p:cNvSpPr/>
          <p:nvPr/>
        </p:nvSpPr>
        <p:spPr>
          <a:xfrm>
            <a:off x="8138160" y="182880"/>
            <a:ext cx="1371600" cy="1371600"/>
          </a:xfrm>
          <a:prstGeom prst="ellipse">
            <a:avLst/>
          </a:prstGeom>
          <a:solidFill>
            <a:srgbClr val="06B6D4">
              <a:alpha val="40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06B6D4"/>
                </a:solidFill>
              </a:rPr>
              <a:t>PORTFOLIO — DATA ANALYST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Canada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BAE6FD"/>
                </a:solidFill>
              </a:rPr>
              <a:t>Analyse SQL + EDA Python + Power BI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45720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</a:rPr>
              <a:t>Pipeline complet : données brutes → modèle relationnel → KPI → insights business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206240"/>
            <a:ext cx="1371600" cy="502920"/>
          </a:xfrm>
          <a:prstGeom prst="roundRect">
            <a:avLst>
              <a:gd name="adj" fmla="val 21818"/>
            </a:avLst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1" name="Text 9"/>
          <p:cNvSpPr/>
          <p:nvPr/>
        </p:nvSpPr>
        <p:spPr>
          <a:xfrm>
            <a:off x="457200" y="42062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SQLite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965960" y="4206240"/>
            <a:ext cx="1371600" cy="502920"/>
          </a:xfrm>
          <a:prstGeom prst="roundRect">
            <a:avLst>
              <a:gd name="adj" fmla="val 21818"/>
            </a:avLst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3" name="Text 11"/>
          <p:cNvSpPr/>
          <p:nvPr/>
        </p:nvSpPr>
        <p:spPr>
          <a:xfrm>
            <a:off x="1965960" y="42062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Python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0" y="4206240"/>
            <a:ext cx="1371600" cy="502920"/>
          </a:xfrm>
          <a:prstGeom prst="roundRect">
            <a:avLst>
              <a:gd name="adj" fmla="val 21818"/>
            </a:avLst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5" name="Text 13"/>
          <p:cNvSpPr/>
          <p:nvPr/>
        </p:nvSpPr>
        <p:spPr>
          <a:xfrm>
            <a:off x="3474720" y="42062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Pandas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83480" y="4206240"/>
            <a:ext cx="1371600" cy="502920"/>
          </a:xfrm>
          <a:prstGeom prst="roundRect">
            <a:avLst>
              <a:gd name="adj" fmla="val 21818"/>
            </a:avLst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7" name="Text 15"/>
          <p:cNvSpPr/>
          <p:nvPr/>
        </p:nvSpPr>
        <p:spPr>
          <a:xfrm>
            <a:off x="4983480" y="42062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Matplotlib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92240" y="4206240"/>
            <a:ext cx="1371600" cy="502920"/>
          </a:xfrm>
          <a:prstGeom prst="roundRect">
            <a:avLst>
              <a:gd name="adj" fmla="val 21818"/>
            </a:avLst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9" name="Text 17"/>
          <p:cNvSpPr/>
          <p:nvPr/>
        </p:nvSpPr>
        <p:spPr>
          <a:xfrm>
            <a:off x="6492240" y="42062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Power BI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</a:rPr>
              <a:t>CONTEXTE &amp; OBJECTIFS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686800" y="0"/>
            <a:ext cx="457200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393192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CONTEXTE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Dataset réel d'un retailer canadien (Superstore Canada)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Simulation d'un projet d'analyse complet en entreprise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Couverture : ventes, profits, clients, produits, régions, livraisons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Période analysée : 2016 → 2019 (4 ans de données)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402336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1" name="Text 9"/>
          <p:cNvSpPr/>
          <p:nvPr/>
        </p:nvSpPr>
        <p:spPr>
          <a:xfrm>
            <a:off x="4846320" y="10972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OBJECTIFS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92040" y="1691640"/>
            <a:ext cx="256032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3" name="Text 11"/>
          <p:cNvSpPr/>
          <p:nvPr/>
        </p:nvSpPr>
        <p:spPr>
          <a:xfrm>
            <a:off x="4892040" y="16916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212080" y="16459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Importer et modéliser les données dans SQLite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92040" y="2258568"/>
            <a:ext cx="256032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6" name="Text 14"/>
          <p:cNvSpPr/>
          <p:nvPr/>
        </p:nvSpPr>
        <p:spPr>
          <a:xfrm>
            <a:off x="4892040" y="22585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212080" y="221284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Créer des vues KPI SQL réutilisables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92040" y="2825496"/>
            <a:ext cx="256032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9" name="Text 17"/>
          <p:cNvSpPr/>
          <p:nvPr/>
        </p:nvSpPr>
        <p:spPr>
          <a:xfrm>
            <a:off x="4892040" y="282549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212080" y="2779776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Produire un EDA complet avec Python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92040" y="3392424"/>
            <a:ext cx="256032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2" name="Text 20"/>
          <p:cNvSpPr/>
          <p:nvPr/>
        </p:nvSpPr>
        <p:spPr>
          <a:xfrm>
            <a:off x="4892040" y="33924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212080" y="3346704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Détecter les problèmes de rentabilité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92040" y="3959352"/>
            <a:ext cx="256032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5" name="Text 23"/>
          <p:cNvSpPr/>
          <p:nvPr/>
        </p:nvSpPr>
        <p:spPr>
          <a:xfrm>
            <a:off x="4892040" y="39593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212080" y="391363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Livrer des recommandations business concrètes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</a:rPr>
              <a:t>DONNÉES &amp; MODÈLE RELATIONNEL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686800" y="0"/>
            <a:ext cx="457200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109728" cy="12801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7" name="Text 5"/>
          <p:cNvSpPr/>
          <p:nvPr/>
        </p:nvSpPr>
        <p:spPr>
          <a:xfrm>
            <a:off x="484632" y="109728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</a:rPr>
              <a:t>51 292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84632" y="17373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Lignes brutes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4632" y="199339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891B2"/>
                </a:solidFill>
              </a:rPr>
              <a:t>sales_raw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68880" y="105156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1" name="Shape 9"/>
          <p:cNvSpPr/>
          <p:nvPr/>
        </p:nvSpPr>
        <p:spPr>
          <a:xfrm>
            <a:off x="2468880" y="1051560"/>
            <a:ext cx="109728" cy="12801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2" name="Text 10"/>
          <p:cNvSpPr/>
          <p:nvPr/>
        </p:nvSpPr>
        <p:spPr>
          <a:xfrm>
            <a:off x="2633472" y="109728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</a:rPr>
              <a:t>25 035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633472" y="17373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Commandes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33472" y="199339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891B2"/>
                </a:solidFill>
              </a:rPr>
              <a:t>orders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17720" y="105156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6" name="Shape 14"/>
          <p:cNvSpPr/>
          <p:nvPr/>
        </p:nvSpPr>
        <p:spPr>
          <a:xfrm>
            <a:off x="4617720" y="1051560"/>
            <a:ext cx="109728" cy="12801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7" name="Text 15"/>
          <p:cNvSpPr/>
          <p:nvPr/>
        </p:nvSpPr>
        <p:spPr>
          <a:xfrm>
            <a:off x="4782312" y="109728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</a:rPr>
              <a:t>1 590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782312" y="17373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Clients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82312" y="199339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891B2"/>
                </a:solidFill>
              </a:rPr>
              <a:t>customers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66560" y="105156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21" name="Shape 19"/>
          <p:cNvSpPr/>
          <p:nvPr/>
        </p:nvSpPr>
        <p:spPr>
          <a:xfrm>
            <a:off x="6766560" y="1051560"/>
            <a:ext cx="109728" cy="12801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2" name="Text 20"/>
          <p:cNvSpPr/>
          <p:nvPr/>
        </p:nvSpPr>
        <p:spPr>
          <a:xfrm>
            <a:off x="6931152" y="109728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</a:rPr>
              <a:t>10 292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931152" y="17373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Produits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31152" y="199339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891B2"/>
                </a:solidFill>
              </a:rPr>
              <a:t>products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2514600"/>
            <a:ext cx="85039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26" name="Text 24"/>
          <p:cNvSpPr/>
          <p:nvPr/>
        </p:nvSpPr>
        <p:spPr>
          <a:xfrm>
            <a:off x="457200" y="2578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65A82"/>
                </a:solidFill>
              </a:rPr>
              <a:t>ARCHITECTURE DU MODÈLE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2971800"/>
            <a:ext cx="137160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8" name="Text 26"/>
          <p:cNvSpPr/>
          <p:nvPr/>
        </p:nvSpPr>
        <p:spPr>
          <a:xfrm>
            <a:off x="457200" y="29718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dim_geo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3520440"/>
            <a:ext cx="137160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0" name="Text 28"/>
          <p:cNvSpPr/>
          <p:nvPr/>
        </p:nvSpPr>
        <p:spPr>
          <a:xfrm>
            <a:off x="457200" y="35204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dim_segment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920240" y="2971800"/>
            <a:ext cx="137160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2" name="Text 30"/>
          <p:cNvSpPr/>
          <p:nvPr/>
        </p:nvSpPr>
        <p:spPr>
          <a:xfrm>
            <a:off x="1920240" y="29718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customers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474720" y="3200400"/>
            <a:ext cx="13716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4" name="Text 32"/>
          <p:cNvSpPr/>
          <p:nvPr/>
        </p:nvSpPr>
        <p:spPr>
          <a:xfrm>
            <a:off x="3474720" y="32004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orders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029200" y="3200400"/>
            <a:ext cx="137160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6" name="Text 34"/>
          <p:cNvSpPr/>
          <p:nvPr/>
        </p:nvSpPr>
        <p:spPr>
          <a:xfrm>
            <a:off x="5029200" y="32004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order_items ★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675120" y="2971800"/>
            <a:ext cx="137160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8" name="Text 36"/>
          <p:cNvSpPr/>
          <p:nvPr/>
        </p:nvSpPr>
        <p:spPr>
          <a:xfrm>
            <a:off x="6675120" y="29718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products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675120" y="3520440"/>
            <a:ext cx="137160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40" name="Text 38"/>
          <p:cNvSpPr/>
          <p:nvPr/>
        </p:nvSpPr>
        <p:spPr>
          <a:xfrm>
            <a:off x="6675120" y="35204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dim_category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920240" y="3520440"/>
            <a:ext cx="137160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42" name="Text 40"/>
          <p:cNvSpPr/>
          <p:nvPr/>
        </p:nvSpPr>
        <p:spPr>
          <a:xfrm>
            <a:off x="1920240" y="35204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dim_ship_mode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" y="4480560"/>
            <a:ext cx="182880" cy="182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44" name="Text 42"/>
          <p:cNvSpPr/>
          <p:nvPr/>
        </p:nvSpPr>
        <p:spPr>
          <a:xfrm>
            <a:off x="685800" y="446227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Table centrale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468880" y="4480560"/>
            <a:ext cx="18288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46" name="Text 44"/>
          <p:cNvSpPr/>
          <p:nvPr/>
        </p:nvSpPr>
        <p:spPr>
          <a:xfrm>
            <a:off x="2697480" y="446227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Table faits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480560" y="4480560"/>
            <a:ext cx="182880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48" name="Text 46"/>
          <p:cNvSpPr/>
          <p:nvPr/>
        </p:nvSpPr>
        <p:spPr>
          <a:xfrm>
            <a:off x="4709160" y="446227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Dimensions principales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492240" y="4480560"/>
            <a:ext cx="182880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50" name="Text 48"/>
          <p:cNvSpPr/>
          <p:nvPr/>
        </p:nvSpPr>
        <p:spPr>
          <a:xfrm>
            <a:off x="6720840" y="446227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Dimensions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</a:rPr>
              <a:t>DASHBOARD KPI GLOBAL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AE6FD"/>
                </a:solidFill>
              </a:rPr>
              <a:t>Vue synthèse — exports CSV depuis vues SQL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697480" cy="16002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69748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6" name="Text 4"/>
          <p:cNvSpPr/>
          <p:nvPr/>
        </p:nvSpPr>
        <p:spPr>
          <a:xfrm>
            <a:off x="411480" y="129844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AE6FD"/>
                </a:solidFill>
              </a:rPr>
              <a:t>Total Ventes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>
                    <a:lumMod val="65000"/>
                  </a:schemeClr>
                </a:solidFill>
              </a:rPr>
              <a:t>12.64M $</a:t>
            </a:r>
            <a:endParaRPr lang="en-US" sz="2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411480" y="23774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Chiffre d'affaires total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1188720"/>
            <a:ext cx="2697480" cy="16002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0" name="Shape 8"/>
          <p:cNvSpPr/>
          <p:nvPr/>
        </p:nvSpPr>
        <p:spPr>
          <a:xfrm>
            <a:off x="3246120" y="1188720"/>
            <a:ext cx="269748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1" name="Text 9"/>
          <p:cNvSpPr/>
          <p:nvPr/>
        </p:nvSpPr>
        <p:spPr>
          <a:xfrm>
            <a:off x="3383280" y="129844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AE6FD"/>
                </a:solidFill>
              </a:rPr>
              <a:t>Total Profit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0" y="160020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>
                    <a:lumMod val="65000"/>
                  </a:schemeClr>
                </a:solidFill>
              </a:rPr>
              <a:t>1.47M $</a:t>
            </a:r>
            <a:endParaRPr lang="en-US" sz="2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3383280" y="23774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Profit net cumulé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17920" y="1188720"/>
            <a:ext cx="2697480" cy="16002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5" name="Shape 13"/>
          <p:cNvSpPr/>
          <p:nvPr/>
        </p:nvSpPr>
        <p:spPr>
          <a:xfrm>
            <a:off x="6217920" y="1188720"/>
            <a:ext cx="269748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6" name="Text 14"/>
          <p:cNvSpPr/>
          <p:nvPr/>
        </p:nvSpPr>
        <p:spPr>
          <a:xfrm>
            <a:off x="6355080" y="129844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AE6FD"/>
                </a:solidFill>
              </a:rPr>
              <a:t>Marge Globale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55080" y="160020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>
                    <a:lumMod val="65000"/>
                  </a:schemeClr>
                </a:solidFill>
              </a:rPr>
              <a:t>11.61%</a:t>
            </a:r>
            <a:endParaRPr lang="en-US" sz="2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6355080" y="23774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Profit / Ventes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108960"/>
            <a:ext cx="2697480" cy="16002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20" name="Shape 18"/>
          <p:cNvSpPr/>
          <p:nvPr/>
        </p:nvSpPr>
        <p:spPr>
          <a:xfrm>
            <a:off x="274320" y="3108960"/>
            <a:ext cx="269748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1" name="Text 19"/>
          <p:cNvSpPr/>
          <p:nvPr/>
        </p:nvSpPr>
        <p:spPr>
          <a:xfrm>
            <a:off x="411480" y="321868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AE6FD"/>
                </a:solidFill>
              </a:rPr>
              <a:t>Commandes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352044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>
                    <a:lumMod val="65000"/>
                  </a:schemeClr>
                </a:solidFill>
              </a:rPr>
              <a:t>25 035</a:t>
            </a:r>
            <a:endParaRPr lang="en-US" sz="2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411480" y="42976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Commandes uniques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46120" y="3108960"/>
            <a:ext cx="2697480" cy="16002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25" name="Shape 23"/>
          <p:cNvSpPr/>
          <p:nvPr/>
        </p:nvSpPr>
        <p:spPr>
          <a:xfrm>
            <a:off x="3246120" y="3108960"/>
            <a:ext cx="269748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6" name="Text 24"/>
          <p:cNvSpPr/>
          <p:nvPr/>
        </p:nvSpPr>
        <p:spPr>
          <a:xfrm>
            <a:off x="3383280" y="321868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AE6FD"/>
                </a:solidFill>
              </a:rPr>
              <a:t>Panier Moyen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83280" y="352044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>
                    <a:lumMod val="65000"/>
                  </a:schemeClr>
                </a:solidFill>
              </a:rPr>
              <a:t>504.99 $</a:t>
            </a:r>
            <a:endParaRPr lang="en-US" sz="2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3383280" y="42976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Ventes / Commandes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17920" y="3108960"/>
            <a:ext cx="2697480" cy="16002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30" name="Shape 28"/>
          <p:cNvSpPr/>
          <p:nvPr/>
        </p:nvSpPr>
        <p:spPr>
          <a:xfrm>
            <a:off x="6217920" y="3108960"/>
            <a:ext cx="269748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1" name="Text 29"/>
          <p:cNvSpPr/>
          <p:nvPr/>
        </p:nvSpPr>
        <p:spPr>
          <a:xfrm>
            <a:off x="6355080" y="321868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AE6FD"/>
                </a:solidFill>
              </a:rPr>
              <a:t>Profit/Commande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55080" y="352044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>
                    <a:lumMod val="65000"/>
                  </a:schemeClr>
                </a:solidFill>
              </a:rPr>
              <a:t>58.62 $</a:t>
            </a:r>
            <a:endParaRPr lang="en-US" sz="2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6355080" y="42976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Profit moyen par commande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</a:rPr>
              <a:t>ANALYSE PAR CATÉGORIE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686800" y="0"/>
            <a:ext cx="457200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005840"/>
          <a:ext cx="41148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754880" y="1005840"/>
          <a:ext cx="41148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274320" y="4343400"/>
            <a:ext cx="8595360" cy="594360"/>
          </a:xfrm>
          <a:prstGeom prst="rect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8" name="Text 4"/>
          <p:cNvSpPr/>
          <p:nvPr/>
        </p:nvSpPr>
        <p:spPr>
          <a:xfrm>
            <a:off x="365760" y="43434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💡  Technology : meilleure marge (~14%)  |  Furniture : marge faible (~7%)  |  Office Supplies : volume élevé, marge correcte (~13%)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</a:rPr>
              <a:t>TENDANCES MENSUELLES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686800" y="0"/>
            <a:ext cx="457200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Analyse de la croissance des ventes et de l'évolution de la marge sur la période 2016–2019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371600"/>
          <a:ext cx="859536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526280"/>
            <a:ext cx="8595360" cy="411480"/>
          </a:xfrm>
          <a:prstGeom prst="rect">
            <a:avLst/>
          </a:prstGeom>
          <a:solidFill>
            <a:srgbClr val="0D1B2A">
              <a:alpha val="90000"/>
            </a:srgbClr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8" name="Text 5"/>
          <p:cNvSpPr/>
          <p:nvPr/>
        </p:nvSpPr>
        <p:spPr>
          <a:xfrm>
            <a:off x="411480" y="452628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📈  Croissance régulière des ventes (+460% sur 4 ans)  |  Profit plus volatil → la croissance ≠ rentabilité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</a:rPr>
              <a:t>ANALYSE PAR RÉGION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686800" y="0"/>
            <a:ext cx="457200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005840"/>
          <a:ext cx="42062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663440" y="1005840"/>
          <a:ext cx="42062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274320" y="4343400"/>
            <a:ext cx="8595360" cy="594360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8" name="Text 4"/>
          <p:cNvSpPr/>
          <p:nvPr/>
        </p:nvSpPr>
        <p:spPr>
          <a:xfrm>
            <a:off x="365760" y="43434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⚠️  Central Canada : marge quasi nulle (0.9%) — priorité d'investigation  |  Atlantic Canada : pilier principal (~91% des ventes)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</a:rPr>
              <a:t>QUALITÉ DES DONNÉES (DATA QUALITY)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686800" y="0"/>
            <a:ext cx="457200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137160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7" name="Text 5"/>
          <p:cNvSpPr/>
          <p:nvPr/>
        </p:nvSpPr>
        <p:spPr>
          <a:xfrm>
            <a:off x="594360" y="11704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Lignes vides / corrompues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5361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Row_ID NULL détectées et filtrées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118872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0B981"/>
                </a:solidFill>
              </a:rPr>
              <a:t>2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1" name="Shape 9"/>
          <p:cNvSpPr/>
          <p:nvPr/>
        </p:nvSpPr>
        <p:spPr>
          <a:xfrm>
            <a:off x="365760" y="2057400"/>
            <a:ext cx="137160" cy="8046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2" name="Text 10"/>
          <p:cNvSpPr/>
          <p:nvPr/>
        </p:nvSpPr>
        <p:spPr>
          <a:xfrm>
            <a:off x="594360" y="21305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Items profit négatif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249631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~1 item sur 4 non rentable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21488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F4444"/>
                </a:solidFill>
              </a:rPr>
              <a:t>24.46%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365760" y="3017520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6" name="Shape 14"/>
          <p:cNvSpPr/>
          <p:nvPr/>
        </p:nvSpPr>
        <p:spPr>
          <a:xfrm>
            <a:off x="365760" y="3017520"/>
            <a:ext cx="137160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7" name="Text 15"/>
          <p:cNvSpPr/>
          <p:nvPr/>
        </p:nvSpPr>
        <p:spPr>
          <a:xfrm>
            <a:off x="594360" y="30906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Remises agressives (&gt;30%)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345643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Corrélation avec profit négatif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310896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</a:rPr>
              <a:t>20.2%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365760" y="3977640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21" name="Shape 19"/>
          <p:cNvSpPr/>
          <p:nvPr/>
        </p:nvSpPr>
        <p:spPr>
          <a:xfrm>
            <a:off x="365760" y="3977640"/>
            <a:ext cx="137160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2" name="Text 20"/>
          <p:cNvSpPr/>
          <p:nvPr/>
        </p:nvSpPr>
        <p:spPr>
          <a:xfrm>
            <a:off x="594360" y="40507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Vente max (outlier)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44165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Transactions exceptionnelles B2B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406908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</a:rPr>
              <a:t>22 638 $</a:t>
            </a:r>
            <a:endParaRPr lang="en-US" sz="2600" dirty="0"/>
          </a:p>
        </p:txBody>
      </p:sp>
      <p:sp>
        <p:nvSpPr>
          <p:cNvPr id="25" name="Shape 23"/>
          <p:cNvSpPr/>
          <p:nvPr/>
        </p:nvSpPr>
        <p:spPr>
          <a:xfrm>
            <a:off x="365760" y="4663440"/>
            <a:ext cx="8412480" cy="347472"/>
          </a:xfrm>
          <a:prstGeom prst="roundRect">
            <a:avLst>
              <a:gd name="adj" fmla="val 21053"/>
            </a:avLst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6" name="Text 24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✅  Tests automatiques Data Quality (PASS/FAIL) exécutés via scripts/dq_checks.py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</a:rPr>
              <a:t>IMPACT DES REMISES SUR LA RENTABILITÉ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686800" y="0"/>
            <a:ext cx="457200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005840"/>
          <a:ext cx="41148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4663440" y="1005840"/>
            <a:ext cx="4206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7" name="Text 4"/>
          <p:cNvSpPr/>
          <p:nvPr/>
        </p:nvSpPr>
        <p:spPr>
          <a:xfrm>
            <a:off x="4754880" y="10515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Impact remise → profit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09160" y="1463040"/>
            <a:ext cx="132588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9" name="Text 6"/>
          <p:cNvSpPr/>
          <p:nvPr/>
        </p:nvSpPr>
        <p:spPr>
          <a:xfrm>
            <a:off x="4754880" y="150876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Remise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35040" y="1463040"/>
            <a:ext cx="132588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1" name="Text 8"/>
          <p:cNvSpPr/>
          <p:nvPr/>
        </p:nvSpPr>
        <p:spPr>
          <a:xfrm>
            <a:off x="6080760" y="150876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Profit moyen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360920" y="1463040"/>
            <a:ext cx="132588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3" name="Text 10"/>
          <p:cNvSpPr/>
          <p:nvPr/>
        </p:nvSpPr>
        <p:spPr>
          <a:xfrm>
            <a:off x="7406640" y="150876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% négatif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09160" y="1965960"/>
            <a:ext cx="1325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5" name="Text 12"/>
          <p:cNvSpPr/>
          <p:nvPr/>
        </p:nvSpPr>
        <p:spPr>
          <a:xfrm>
            <a:off x="4754880" y="201168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0%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35040" y="1965960"/>
            <a:ext cx="1325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7" name="Text 14"/>
          <p:cNvSpPr/>
          <p:nvPr/>
        </p:nvSpPr>
        <p:spPr>
          <a:xfrm>
            <a:off x="6080760" y="201168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+85 $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360920" y="1965960"/>
            <a:ext cx="1325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9" name="Text 16"/>
          <p:cNvSpPr/>
          <p:nvPr/>
        </p:nvSpPr>
        <p:spPr>
          <a:xfrm>
            <a:off x="7406640" y="201168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~5%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709160" y="2468880"/>
            <a:ext cx="1325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1" name="Text 18"/>
          <p:cNvSpPr/>
          <p:nvPr/>
        </p:nvSpPr>
        <p:spPr>
          <a:xfrm>
            <a:off x="4754880" y="251460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1–20%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035040" y="2468880"/>
            <a:ext cx="1325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3" name="Text 20"/>
          <p:cNvSpPr/>
          <p:nvPr/>
        </p:nvSpPr>
        <p:spPr>
          <a:xfrm>
            <a:off x="6080760" y="251460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+42 $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360920" y="2468880"/>
            <a:ext cx="1325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5" name="Text 22"/>
          <p:cNvSpPr/>
          <p:nvPr/>
        </p:nvSpPr>
        <p:spPr>
          <a:xfrm>
            <a:off x="7406640" y="251460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~18%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709160" y="2971800"/>
            <a:ext cx="1325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7" name="Text 24"/>
          <p:cNvSpPr/>
          <p:nvPr/>
        </p:nvSpPr>
        <p:spPr>
          <a:xfrm>
            <a:off x="4754880" y="301752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21–30%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035040" y="2971800"/>
            <a:ext cx="1325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9" name="Text 26"/>
          <p:cNvSpPr/>
          <p:nvPr/>
        </p:nvSpPr>
        <p:spPr>
          <a:xfrm>
            <a:off x="6080760" y="301752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+12 $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7360920" y="2971800"/>
            <a:ext cx="1325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1" name="Text 28"/>
          <p:cNvSpPr/>
          <p:nvPr/>
        </p:nvSpPr>
        <p:spPr>
          <a:xfrm>
            <a:off x="7406640" y="301752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~35%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709160" y="3474720"/>
            <a:ext cx="1325880" cy="475488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3" name="Text 30"/>
          <p:cNvSpPr/>
          <p:nvPr/>
        </p:nvSpPr>
        <p:spPr>
          <a:xfrm>
            <a:off x="4754880" y="352044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</a:rPr>
              <a:t>&gt;30%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035040" y="3474720"/>
            <a:ext cx="1325880" cy="475488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5" name="Text 32"/>
          <p:cNvSpPr/>
          <p:nvPr/>
        </p:nvSpPr>
        <p:spPr>
          <a:xfrm>
            <a:off x="6080760" y="352044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</a:rPr>
              <a:t>–28 $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7360920" y="3474720"/>
            <a:ext cx="1325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7" name="Text 34"/>
          <p:cNvSpPr/>
          <p:nvPr/>
        </p:nvSpPr>
        <p:spPr>
          <a:xfrm>
            <a:off x="7406640" y="352044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~72%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274320" y="4343400"/>
            <a:ext cx="8595360" cy="594360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9" name="Text 36"/>
          <p:cNvSpPr/>
          <p:nvPr/>
        </p:nvSpPr>
        <p:spPr>
          <a:xfrm>
            <a:off x="365760" y="43434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🔑  Au-delà de 30% de remise, 72% des transactions sont déficitaires → révision urgente de la politique de promotions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</a:rPr>
              <a:t>VENTES &amp; PROFIT PAR MODE DE LIVRAISON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686800" y="0"/>
            <a:ext cx="457200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005840"/>
          <a:ext cx="859536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4480560"/>
            <a:ext cx="8595360" cy="457200"/>
          </a:xfrm>
          <a:prstGeom prst="rect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7" name="Text 4"/>
          <p:cNvSpPr/>
          <p:nvPr/>
        </p:nvSpPr>
        <p:spPr>
          <a:xfrm>
            <a:off x="365760" y="4480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Standard Class représente ~58% des ventes et génère le plus gros profit  |  Same Day : coût élevé, volume faible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</a:rPr>
              <a:t>PIPELINE TECHNIQUE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686800" y="0"/>
            <a:ext cx="457200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1005840" cy="10058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6" name="Text 4"/>
          <p:cNvSpPr/>
          <p:nvPr/>
        </p:nvSpPr>
        <p:spPr>
          <a:xfrm>
            <a:off x="228600" y="1097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20040" y="2286000"/>
            <a:ext cx="82296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8" name="Text 6"/>
          <p:cNvSpPr/>
          <p:nvPr/>
        </p:nvSpPr>
        <p:spPr>
          <a:xfrm>
            <a:off x="137160" y="24231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</a:rPr>
              <a:t>Import CSV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" y="283464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build_db.py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sales_raw → SQLite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234440" y="1563624"/>
            <a:ext cx="22860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1" name="Shape 9"/>
          <p:cNvSpPr/>
          <p:nvPr/>
        </p:nvSpPr>
        <p:spPr>
          <a:xfrm>
            <a:off x="1472184" y="1097280"/>
            <a:ext cx="1005840" cy="10058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2" name="Text 10"/>
          <p:cNvSpPr/>
          <p:nvPr/>
        </p:nvSpPr>
        <p:spPr>
          <a:xfrm>
            <a:off x="1472184" y="1097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1563624" y="2286000"/>
            <a:ext cx="822960" cy="548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4" name="Text 12"/>
          <p:cNvSpPr/>
          <p:nvPr/>
        </p:nvSpPr>
        <p:spPr>
          <a:xfrm>
            <a:off x="1380744" y="24231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</a:rPr>
              <a:t>Normalisation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335024" y="283464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normalize.py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Tables + dimensions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478024" y="1563624"/>
            <a:ext cx="22860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7" name="Shape 15"/>
          <p:cNvSpPr/>
          <p:nvPr/>
        </p:nvSpPr>
        <p:spPr>
          <a:xfrm>
            <a:off x="2715768" y="1097280"/>
            <a:ext cx="1005840" cy="100584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8" name="Text 16"/>
          <p:cNvSpPr/>
          <p:nvPr/>
        </p:nvSpPr>
        <p:spPr>
          <a:xfrm>
            <a:off x="2715768" y="1097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3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2807208" y="2286000"/>
            <a:ext cx="822960" cy="548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0" name="Text 18"/>
          <p:cNvSpPr/>
          <p:nvPr/>
        </p:nvSpPr>
        <p:spPr>
          <a:xfrm>
            <a:off x="2624328" y="24231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</a:rPr>
              <a:t>Vues SQL KPI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578608" y="283464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views.sql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KPI réutilisables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721608" y="1563624"/>
            <a:ext cx="22860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3" name="Shape 21"/>
          <p:cNvSpPr/>
          <p:nvPr/>
        </p:nvSpPr>
        <p:spPr>
          <a:xfrm>
            <a:off x="3959352" y="1097280"/>
            <a:ext cx="1005840" cy="10058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4" name="Text 22"/>
          <p:cNvSpPr/>
          <p:nvPr/>
        </p:nvSpPr>
        <p:spPr>
          <a:xfrm>
            <a:off x="3959352" y="1097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n-US" sz="2800" dirty="0"/>
          </a:p>
        </p:txBody>
      </p:sp>
      <p:sp>
        <p:nvSpPr>
          <p:cNvPr id="25" name="Shape 23"/>
          <p:cNvSpPr/>
          <p:nvPr/>
        </p:nvSpPr>
        <p:spPr>
          <a:xfrm>
            <a:off x="4050792" y="2286000"/>
            <a:ext cx="8229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6" name="Text 24"/>
          <p:cNvSpPr/>
          <p:nvPr/>
        </p:nvSpPr>
        <p:spPr>
          <a:xfrm>
            <a:off x="3867912" y="24231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</a:rPr>
              <a:t>DQ Tests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822192" y="283464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dq_checks.py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PASS / FAIL auto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965192" y="1563624"/>
            <a:ext cx="22860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9" name="Shape 27"/>
          <p:cNvSpPr/>
          <p:nvPr/>
        </p:nvSpPr>
        <p:spPr>
          <a:xfrm>
            <a:off x="5202936" y="1097280"/>
            <a:ext cx="1005840" cy="10058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0" name="Text 28"/>
          <p:cNvSpPr/>
          <p:nvPr/>
        </p:nvSpPr>
        <p:spPr>
          <a:xfrm>
            <a:off x="5202936" y="1097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n-US" sz="2800" dirty="0"/>
          </a:p>
        </p:txBody>
      </p:sp>
      <p:sp>
        <p:nvSpPr>
          <p:cNvPr id="31" name="Shape 29"/>
          <p:cNvSpPr/>
          <p:nvPr/>
        </p:nvSpPr>
        <p:spPr>
          <a:xfrm>
            <a:off x="5294376" y="2286000"/>
            <a:ext cx="8229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2" name="Text 30"/>
          <p:cNvSpPr/>
          <p:nvPr/>
        </p:nvSpPr>
        <p:spPr>
          <a:xfrm>
            <a:off x="5111496" y="24231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</a:rPr>
              <a:t>Export CSV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065776" y="283464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data/exports/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KPI mensuels, etc.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08776" y="1563624"/>
            <a:ext cx="22860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5" name="Shape 33"/>
          <p:cNvSpPr/>
          <p:nvPr/>
        </p:nvSpPr>
        <p:spPr>
          <a:xfrm>
            <a:off x="6446520" y="1097280"/>
            <a:ext cx="1005840" cy="10058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6" name="Text 34"/>
          <p:cNvSpPr/>
          <p:nvPr/>
        </p:nvSpPr>
        <p:spPr>
          <a:xfrm>
            <a:off x="6446520" y="1097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6</a:t>
            </a:r>
            <a:endParaRPr lang="en-US" sz="2800" dirty="0"/>
          </a:p>
        </p:txBody>
      </p:sp>
      <p:sp>
        <p:nvSpPr>
          <p:cNvPr id="37" name="Shape 35"/>
          <p:cNvSpPr/>
          <p:nvPr/>
        </p:nvSpPr>
        <p:spPr>
          <a:xfrm>
            <a:off x="6537960" y="2286000"/>
            <a:ext cx="82296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8" name="Text 36"/>
          <p:cNvSpPr/>
          <p:nvPr/>
        </p:nvSpPr>
        <p:spPr>
          <a:xfrm>
            <a:off x="6355080" y="24231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</a:rPr>
              <a:t>Visualisations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309360" y="283464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make_charts.py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6+ graphiques Python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452360" y="1563624"/>
            <a:ext cx="22860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41" name="Shape 39"/>
          <p:cNvSpPr/>
          <p:nvPr/>
        </p:nvSpPr>
        <p:spPr>
          <a:xfrm>
            <a:off x="7690104" y="1097280"/>
            <a:ext cx="1005840" cy="10058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42" name="Text 40"/>
          <p:cNvSpPr/>
          <p:nvPr/>
        </p:nvSpPr>
        <p:spPr>
          <a:xfrm>
            <a:off x="7690104" y="1097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7</a:t>
            </a:r>
            <a:endParaRPr lang="en-US" sz="2800" dirty="0"/>
          </a:p>
        </p:txBody>
      </p:sp>
      <p:sp>
        <p:nvSpPr>
          <p:cNvPr id="43" name="Shape 41"/>
          <p:cNvSpPr/>
          <p:nvPr/>
        </p:nvSpPr>
        <p:spPr>
          <a:xfrm>
            <a:off x="7781544" y="2286000"/>
            <a:ext cx="8229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44" name="Text 42"/>
          <p:cNvSpPr/>
          <p:nvPr/>
        </p:nvSpPr>
        <p:spPr>
          <a:xfrm>
            <a:off x="7598664" y="24231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</a:rPr>
              <a:t>Power BI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552944" y="283464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Dashboard interactif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KPI + carte + filtres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74320" y="3749040"/>
            <a:ext cx="8595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47" name="Text 45"/>
          <p:cNvSpPr/>
          <p:nvPr/>
        </p:nvSpPr>
        <p:spPr>
          <a:xfrm>
            <a:off x="457200" y="3794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65A82"/>
                </a:solidFill>
              </a:rPr>
              <a:t>STACK TECHNIQUE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57200" y="4215384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49" name="Text 47"/>
          <p:cNvSpPr/>
          <p:nvPr/>
        </p:nvSpPr>
        <p:spPr>
          <a:xfrm>
            <a:off x="694944" y="41605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SQLite — BDD &amp; modélisation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3246120" y="4215384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51" name="Text 49"/>
          <p:cNvSpPr/>
          <p:nvPr/>
        </p:nvSpPr>
        <p:spPr>
          <a:xfrm>
            <a:off x="3483864" y="41605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Python — EDA &amp; scripts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035040" y="4215384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53" name="Text 51"/>
          <p:cNvSpPr/>
          <p:nvPr/>
        </p:nvSpPr>
        <p:spPr>
          <a:xfrm>
            <a:off x="6272784" y="41605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Pandas — Manipulation data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457200" y="4626864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55" name="Text 53"/>
          <p:cNvSpPr/>
          <p:nvPr/>
        </p:nvSpPr>
        <p:spPr>
          <a:xfrm>
            <a:off x="694944" y="457200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Matplotlib/Seaborn — Visualisations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3246120" y="4626864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57" name="Text 55"/>
          <p:cNvSpPr/>
          <p:nvPr/>
        </p:nvSpPr>
        <p:spPr>
          <a:xfrm>
            <a:off x="3483864" y="457200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Power BI — Dashboard interactif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6035040" y="4626864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59" name="Text 57"/>
          <p:cNvSpPr/>
          <p:nvPr/>
        </p:nvSpPr>
        <p:spPr>
          <a:xfrm>
            <a:off x="6272784" y="457200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VS Code / DBeaver — Environnement dev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</a:rPr>
              <a:t>INSIGHTS &amp; RECOMMANDATIONS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51960" cy="1691640"/>
          </a:xfrm>
          <a:prstGeom prst="rect">
            <a:avLst/>
          </a:prstGeom>
          <a:solidFill>
            <a:srgbClr val="122036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25196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6" name="Text 4"/>
          <p:cNvSpPr/>
          <p:nvPr/>
        </p:nvSpPr>
        <p:spPr>
          <a:xfrm>
            <a:off x="411480" y="11155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51560" y="1115568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Réviser la politique de remises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691640"/>
            <a:ext cx="3977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AE6FD"/>
                </a:solidFill>
              </a:rPr>
              <a:t>Limiter les promotions &gt; 30% — 72% des transactions à ce niveau sont déficitaires. Mettre en place des plafonds par catégorie.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005840"/>
            <a:ext cx="4251960" cy="1691640"/>
          </a:xfrm>
          <a:prstGeom prst="rect">
            <a:avLst/>
          </a:prstGeom>
          <a:solidFill>
            <a:srgbClr val="122036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0" name="Shape 8"/>
          <p:cNvSpPr/>
          <p:nvPr/>
        </p:nvSpPr>
        <p:spPr>
          <a:xfrm>
            <a:off x="4800600" y="1005840"/>
            <a:ext cx="42519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1" name="Text 9"/>
          <p:cNvSpPr/>
          <p:nvPr/>
        </p:nvSpPr>
        <p:spPr>
          <a:xfrm>
            <a:off x="4937760" y="11155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577840" y="1115568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Optimiser la rentabilité Furniture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691640"/>
            <a:ext cx="3977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AE6FD"/>
                </a:solidFill>
              </a:rPr>
              <a:t>La catégorie Furniture affiche une marge faible (~7%). Analyser les sous-catégories les plus déficitaires et ajuster le mix produit.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4251960" cy="1691640"/>
          </a:xfrm>
          <a:prstGeom prst="rect">
            <a:avLst/>
          </a:prstGeom>
          <a:solidFill>
            <a:srgbClr val="122036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5" name="Shape 13"/>
          <p:cNvSpPr/>
          <p:nvPr/>
        </p:nvSpPr>
        <p:spPr>
          <a:xfrm>
            <a:off x="274320" y="2926080"/>
            <a:ext cx="42519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6" name="Text 14"/>
          <p:cNvSpPr/>
          <p:nvPr/>
        </p:nvSpPr>
        <p:spPr>
          <a:xfrm>
            <a:off x="411480" y="303580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051560" y="3035808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Investiguer Central Canada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3611880"/>
            <a:ext cx="3977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AE6FD"/>
                </a:solidFill>
              </a:rPr>
              <a:t>Marge quasi nulle (0.9%). Analyser les coûts logistiques, les remises accordées et la structure client dans cette région.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2926080"/>
            <a:ext cx="4251960" cy="1691640"/>
          </a:xfrm>
          <a:prstGeom prst="rect">
            <a:avLst/>
          </a:prstGeom>
          <a:solidFill>
            <a:srgbClr val="122036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20" name="Shape 18"/>
          <p:cNvSpPr/>
          <p:nvPr/>
        </p:nvSpPr>
        <p:spPr>
          <a:xfrm>
            <a:off x="4800600" y="2926080"/>
            <a:ext cx="425196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1" name="Text 19"/>
          <p:cNvSpPr/>
          <p:nvPr/>
        </p:nvSpPr>
        <p:spPr>
          <a:xfrm>
            <a:off x="4937760" y="303580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B981"/>
                </a:solidFill>
              </a:rPr>
              <a:t>04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577840" y="3035808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Suivre la marge mensuelle, pas seulement les ventes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3611880"/>
            <a:ext cx="3977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AE6FD"/>
                </a:solidFill>
              </a:rPr>
              <a:t>La croissance des ventes masque la volatilité du profit. KPI prioritaire : marge % mensuelle par catégorie et région.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" name="Shape 1"/>
          <p:cNvSpPr/>
          <p:nvPr/>
        </p:nvSpPr>
        <p:spPr>
          <a:xfrm>
            <a:off x="-457200" y="3474720"/>
            <a:ext cx="2743200" cy="2743200"/>
          </a:xfrm>
          <a:prstGeom prst="ellipse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4" name="Shape 2"/>
          <p:cNvSpPr/>
          <p:nvPr/>
        </p:nvSpPr>
        <p:spPr>
          <a:xfrm>
            <a:off x="7772400" y="-274320"/>
            <a:ext cx="1828800" cy="1828800"/>
          </a:xfrm>
          <a:prstGeom prst="ellipse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891B2"/>
                </a:solidFill>
              </a:rPr>
              <a:t>CONCLUSION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</a:rPr>
              <a:t>Un workflow data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</a:rPr>
              <a:t>complet, de A à Z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50292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73152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9" name="Text 7"/>
          <p:cNvSpPr/>
          <p:nvPr/>
        </p:nvSpPr>
        <p:spPr>
          <a:xfrm>
            <a:off x="640080" y="249631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AE6FD"/>
                </a:solidFill>
              </a:rPr>
              <a:t>Pipeline end-to-end : CSV → SQLite normalisé → vues KPI → EDA → Power BI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73152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1" name="Text 9"/>
          <p:cNvSpPr/>
          <p:nvPr/>
        </p:nvSpPr>
        <p:spPr>
          <a:xfrm>
            <a:off x="640080" y="299923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AE6FD"/>
                </a:solidFill>
              </a:rPr>
              <a:t>Insights business actionnables : remises, rentabilité, régions sous-performantes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520440"/>
            <a:ext cx="73152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3" name="Text 11"/>
          <p:cNvSpPr/>
          <p:nvPr/>
        </p:nvSpPr>
        <p:spPr>
          <a:xfrm>
            <a:off x="640080" y="350215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AE6FD"/>
                </a:solidFill>
              </a:rPr>
              <a:t>Tests Data Quality automatisés (PASS/FAIL) intégrés au pipeline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4023360"/>
            <a:ext cx="73152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5" name="Text 13"/>
          <p:cNvSpPr/>
          <p:nvPr/>
        </p:nvSpPr>
        <p:spPr>
          <a:xfrm>
            <a:off x="640080" y="40050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AE6FD"/>
                </a:solidFill>
              </a:rPr>
              <a:t>4 ans de données, 51 290 lignes, 25 035 commandes analysées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7" name="Text 15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⭐  Disponible sur GitHub  |  Stack : SQLite · Python · Pandas · Matplotlib · Power BI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829</Words>
  <Application>Microsoft Office PowerPoint</Application>
  <PresentationFormat>Affichage à l'écran (16:9)</PresentationFormat>
  <Paragraphs>191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Superstore Canada — Analyse de Données</dc:title>
  <dc:subject>PptxGenJS Presentation</dc:subject>
  <dc:creator>Portfolio Data Analyst</dc:creator>
  <cp:lastModifiedBy>Rachida Toumi</cp:lastModifiedBy>
  <cp:revision>3</cp:revision>
  <dcterms:created xsi:type="dcterms:W3CDTF">2026-04-01T22:30:39Z</dcterms:created>
  <dcterms:modified xsi:type="dcterms:W3CDTF">2026-04-02T00:07:27Z</dcterms:modified>
</cp:coreProperties>
</file>